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1"/>
  </p:notesMasterIdLst>
  <p:sldIdLst>
    <p:sldId id="448" r:id="rId2"/>
    <p:sldId id="598" r:id="rId3"/>
    <p:sldId id="609" r:id="rId4"/>
    <p:sldId id="596" r:id="rId5"/>
    <p:sldId id="608" r:id="rId6"/>
    <p:sldId id="607" r:id="rId7"/>
    <p:sldId id="610" r:id="rId8"/>
    <p:sldId id="604" r:id="rId9"/>
    <p:sldId id="438" r:id="rId10"/>
  </p:sldIdLst>
  <p:sldSz cx="12192000" cy="6858000"/>
  <p:notesSz cx="6858000" cy="9926638"/>
  <p:custShowLst>
    <p:custShow name="Zielgruppenpräsentation 1" id="0">
      <p:sldLst/>
    </p:custShow>
  </p:custShowLst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4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00CC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80"/>
    <p:restoredTop sz="90752"/>
  </p:normalViewPr>
  <p:slideViewPr>
    <p:cSldViewPr snapToGrid="0">
      <p:cViewPr varScale="1">
        <p:scale>
          <a:sx n="97" d="100"/>
          <a:sy n="97" d="100"/>
        </p:scale>
        <p:origin x="972" y="72"/>
      </p:cViewPr>
      <p:guideLst>
        <p:guide pos="347"/>
        <p:guide orient="horz" pos="187"/>
        <p:guide orient="horz" pos="4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26.02.2026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78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2299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464C6-D67D-9C0C-C8E6-EAF4A89E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5F622-62A3-2B69-66BD-EEBD7051B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013F3-884C-6FB4-B8E3-05193A0E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11792-BEDF-0E78-59E8-BB231C597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55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148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24A1-A5E3-90F6-90E3-A5F624CD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6007F-8E93-539B-E744-39BFB04CB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86B79-08D4-F108-8589-87B3195DA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BCCF7-95FD-13B7-2688-652230AF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441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19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7932E-6DB9-0E7C-7325-DF6DF09E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DA9C7-0B66-53B4-CE7A-839E54EB8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B5A6DB-1F04-2F4E-268F-99FC1F5D9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6D2F3-FDD5-C1B8-DDA3-9DE4DD39D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273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3FE92-1802-41EE-B167-409214DF4AF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55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B136-E37F-092B-DD07-C806AB3FB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D89AC-D19D-1DC6-36BA-257766BB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A2EC1-CE26-2A82-0E96-E70A50336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74793-F065-49B5-DE8A-4E4F024B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88F0F-33D3-62C3-4FA1-20FC48DA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245976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F9243-A7C2-E4C3-E59D-501ED803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D7B56-AB5E-E15F-7C6F-310059FEC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A989-4A2B-57AE-6F17-4078CD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206CD-D8ED-08C5-01D6-268029B0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E2D0-F19C-8C53-D452-A84F38F8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487495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AF5E-FDAF-585B-5973-647D2E08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4ADC5-0A79-4096-2C03-93E7DC7BE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346CD-3B61-3F00-B425-40BF9806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922A6-D442-C069-677C-5724536B6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7F7E-D05D-E432-3BF8-0024D6400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252402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9F1A-F63A-A88C-87D5-7C7A0F0BD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88FBE-8984-6A87-3798-0FA795D4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6C352-E6B1-9D41-2BC0-614DEDEE7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13541-E76D-2D30-8CA8-1E943AAF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7EC38-DDF7-F99D-D1B7-E30329564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977A3-E3FC-020E-2084-024414295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6862385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870A2-422D-0C14-F99F-EBFC6EB5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FDD8D-5B20-D8BC-7434-48A87FE7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A0E9B-AF70-4B6C-E7A0-D78B993A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024D11-9A5B-BBC6-B26A-6D6F4B435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DB75-AEA7-AD0A-D371-6474FCF9C0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4690E6-7541-92AE-C6B4-956505F6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B0E13-C764-7891-EDA6-F6BBF1574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B3E13-7AB9-6ECE-E5E0-CC890F54C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9312379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FD316-B376-F28C-B3E5-BC5006354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5BFF1-C808-E3D7-98DD-328815A03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AA158-D590-B74E-E612-CA18B9F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9EAE2-DB0E-CDB8-FEEF-22FFEBAC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5900791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84EAEE-D00C-AB07-2A7B-91A168702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8560E-8FBE-666B-B5ED-AA1AA169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70300-2C49-3180-1CA1-7F0DC3C1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2451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CFD7-FBD6-E2A7-3F85-9087A415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361C-6EFC-0F4C-3A8C-805379F15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B8009E-60D3-AE32-56CA-13C19715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23ED-8BEE-23E5-4879-F78267279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7C7AF-F05A-FB73-8BBE-1C7F96FE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B402E-D4FF-92DC-4DFB-D5FFB061E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7934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3966-7437-04D6-168C-3A0A440F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1A3E1-FFAA-EF75-809D-F935D1872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091C5-5C85-2236-A8F5-C8F7B6D1B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63FCF-D6D4-B2EA-9CB2-5666CB6DF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AAADA-E8AF-5240-4C2F-440340107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B9825-A341-FB53-A965-64C7A488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68812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CD6A-4631-85B3-9DBA-7C52B63C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2B4DE8-E0EB-4A85-9622-73AC2D8A4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A130-FD05-D87D-5E3A-EF5F89342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85FF5-E267-F0F8-8272-95DB58AC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53C01-FDFC-0762-76E9-6B9A2286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70571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F8EA9-64E6-1465-AD9D-D6C48559B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68643-F33D-A7E4-30E8-C375DD07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1371-406D-0096-03A7-36656F356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D070-DB23-17C7-3CF7-1E470AD5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9C0F6-6295-D0E0-D653-CA987DAB2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116324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FARBIGE ÜBERSCHRIFT</a:t>
            </a:r>
          </a:p>
          <a:p>
            <a:pPr lvl="0"/>
            <a:r>
              <a:rPr lang="de-DE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26.02.2026</a:t>
            </a:fld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86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7355">
          <p15:clr>
            <a:srgbClr val="FBAE40"/>
          </p15:clr>
        </p15:guide>
        <p15:guide id="3" pos="325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3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31D7DA4-ABF3-C14C-AEA5-0768E44C206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600" y="1824000"/>
            <a:ext cx="11294400" cy="4483200"/>
          </a:xfrm>
        </p:spPr>
        <p:txBody>
          <a:bodyPr>
            <a:normAutofit/>
          </a:bodyPr>
          <a:lstStyle>
            <a:lvl1pPr marL="228594" marR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67"/>
            </a:lvl1pPr>
          </a:lstStyle>
          <a:p>
            <a:pPr marL="228594" marR="0" lvl="0" indent="-22859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de-DE"/>
              <a:t>Inhalt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A4FBD60-81AB-444E-AE3C-D549E11A76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9" y="527562"/>
            <a:ext cx="4205692" cy="480132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none" lIns="108000" tIns="324000" anchor="b">
            <a:noAutofit/>
          </a:bodyPr>
          <a:lstStyle>
            <a:lvl1pPr algn="l">
              <a:defRPr sz="2800" cap="all" baseline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de-DE"/>
              <a:t>MASTERTITELFORMAT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878C3EAF-253C-C144-B1DD-069F9B0FE8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7160" y="1032630"/>
            <a:ext cx="11290841" cy="434137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800" cap="all" baseline="0">
                <a:solidFill>
                  <a:srgbClr val="19427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BEARBEITEN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C997409-765A-4B4D-95DD-51096B8A5B84}"/>
              </a:ext>
            </a:extLst>
          </p:cNvPr>
          <p:cNvSpPr/>
          <p:nvPr userDrawn="1"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de-DE" sz="24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A058594-6570-8E48-B44F-F95FBD79E9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1" y="6330632"/>
            <a:ext cx="1535053" cy="14950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62211" y="298076"/>
            <a:ext cx="2439921" cy="73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7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34D51-BD2B-0B54-D429-5C411B69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F573C-7C1F-D00E-7296-60A4F1E1C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AF2F3-F697-37E6-2667-313CB5F09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26.02.2026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EF40D-518C-0245-0F8E-42D9C7418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641BA-6931-0913-8BAE-148BC78B29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39" y="532022"/>
            <a:ext cx="4690681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6" y="555931"/>
            <a:ext cx="11160125" cy="1057334"/>
          </a:xfrm>
        </p:spPr>
        <p:txBody>
          <a:bodyPr/>
          <a:lstStyle/>
          <a:p>
            <a:r>
              <a:rPr lang="de-DE" dirty="0"/>
              <a:t>Intelligent Robotics Lab</a:t>
            </a: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2063552" y="1693621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/>
          </a:p>
        </p:txBody>
      </p:sp>
      <p:pic>
        <p:nvPicPr>
          <p:cNvPr id="10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91451" y="4327479"/>
            <a:ext cx="2218861" cy="1664146"/>
          </a:xfrm>
          <a:prstGeom prst="rect">
            <a:avLst/>
          </a:prstGeom>
          <a:noFill/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50236" y="4327479"/>
            <a:ext cx="2180960" cy="1666130"/>
          </a:xfrm>
          <a:prstGeom prst="rect">
            <a:avLst/>
          </a:prstGeom>
        </p:spPr>
      </p:pic>
      <p:sp>
        <p:nvSpPr>
          <p:cNvPr id="16" name="Titel 1"/>
          <p:cNvSpPr txBox="1">
            <a:spLocks/>
          </p:cNvSpPr>
          <p:nvPr/>
        </p:nvSpPr>
        <p:spPr>
          <a:xfrm>
            <a:off x="2590800" y="1784065"/>
            <a:ext cx="7366000" cy="168551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IN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Octo-Bouncer : </a:t>
            </a:r>
            <a:r>
              <a:rPr lang="en-US" sz="24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Development of a multi-actuated platform for dynamic object</a:t>
            </a:r>
            <a:endParaRPr lang="ru-RU" sz="2400" b="1" dirty="0">
              <a:solidFill>
                <a:schemeClr val="tx2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06351" y="4335689"/>
            <a:ext cx="3183630" cy="1664791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11401" r="16399" b="13091"/>
          <a:stretch/>
        </p:blipFill>
        <p:spPr>
          <a:xfrm>
            <a:off x="989759" y="4335689"/>
            <a:ext cx="2356337" cy="1642073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42F1C04C-6D2B-1016-C519-0B47A0C329A2}"/>
              </a:ext>
            </a:extLst>
          </p:cNvPr>
          <p:cNvSpPr txBox="1">
            <a:spLocks/>
          </p:cNvSpPr>
          <p:nvPr/>
        </p:nvSpPr>
        <p:spPr>
          <a:xfrm>
            <a:off x="7456226" y="3190763"/>
            <a:ext cx="4289947" cy="83092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Student: Anandhu Vijayan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Submission date: September 16 (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approx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)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Supervisor: Prof. Dr.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Dmitrii</a:t>
            </a:r>
            <a:r>
              <a:rPr lang="en-US" sz="1400" dirty="0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 </a:t>
            </a:r>
            <a:r>
              <a:rPr lang="en-US" sz="1400" dirty="0" err="1">
                <a:solidFill>
                  <a:srgbClr val="1A4273"/>
                </a:solidFill>
                <a:latin typeface="Verdana"/>
                <a:ea typeface="Verdana"/>
                <a:cs typeface="+mj-lt"/>
              </a:rPr>
              <a:t>Dobriborsci</a:t>
            </a:r>
            <a:endParaRPr lang="en-US" sz="1400" dirty="0">
              <a:solidFill>
                <a:srgbClr val="1A4273"/>
              </a:solidFill>
              <a:latin typeface="Verdana"/>
              <a:ea typeface="Verdana"/>
              <a:cs typeface="+mj-lt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solidFill>
                <a:srgbClr val="1A4273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826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2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16BDB008-7C21-0FF8-8C8B-616B4F738079}"/>
              </a:ext>
            </a:extLst>
          </p:cNvPr>
          <p:cNvSpPr/>
          <p:nvPr/>
        </p:nvSpPr>
        <p:spPr>
          <a:xfrm>
            <a:off x="336572" y="1050803"/>
            <a:ext cx="8156462" cy="43997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Octo-Bouncer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One of the most challenging problems in a control system is balancing a system. The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Octa-Bouncer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is a multi-actuated dynamic manipulation system that uses camera-based ball tracking and closed-loop control to generate corrective platform motions that stabilize and influence a bouncing ball.</a:t>
            </a:r>
          </a:p>
          <a:p>
            <a:pPr marL="720" algn="just">
              <a:lnSpc>
                <a:spcPct val="100000"/>
              </a:lnSpc>
              <a:buClr>
                <a:srgbClr val="000000"/>
              </a:buClr>
            </a:pPr>
            <a:endParaRPr lang="en-US" sz="2400" dirty="0"/>
          </a:p>
          <a:p>
            <a:pPr marL="343620" indent="-342900" algn="just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Problem statement</a:t>
            </a:r>
          </a:p>
          <a:p>
            <a:pPr marL="800820" lvl="1" indent="-342900" algn="just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To develop a real-time robotic platform that can track, predict, and control the motion of a bouncing ball using multiple actuators and visual feedback, ensuring continuous and stable bouncing through closed-loop control.</a:t>
            </a: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This thesis is relevant because it addresses the challenge of controlling fast, unpredictable dynamic objects using real-time feedback. The system demonstrates important modern robotics skills in computer vision, control, and embedded systems.</a:t>
            </a: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93889-AB9C-EDA4-E82E-2FD0EA3B12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8943" y="2147463"/>
            <a:ext cx="2743199" cy="256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444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D2A0-67A1-0396-EBD3-232497834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FD692C1F-1511-5EAC-55A0-6C593C6A6A2A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Problem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definition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108506A5-4C3A-0796-409B-4D8E3B959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75A1DBDC-03AD-3EC5-3D88-1B1DBB2EA03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3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28D63622-872E-888E-107A-A9F9A9BDDFDD}"/>
              </a:ext>
            </a:extLst>
          </p:cNvPr>
          <p:cNvSpPr/>
          <p:nvPr/>
        </p:nvSpPr>
        <p:spPr>
          <a:xfrm>
            <a:off x="0" y="1076960"/>
            <a:ext cx="11247120" cy="44920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Design and build a multi-actuated platform to control a bouncing ball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 and real-time closed-loop control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embedded hardware, actuators, and computer vision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  <a:endParaRPr lang="en-US" sz="2400" b="1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dirty="0">
                <a:latin typeface="Verdana" panose="020B0604030504040204" pitchFamily="34" charset="0"/>
                <a:ea typeface="Verdana" panose="020B0604030504040204" pitchFamily="34" charset="0"/>
              </a:rPr>
              <a:t>Deliverables</a:t>
            </a:r>
            <a:r>
              <a:rPr lang="en-GB" sz="20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Functional hardware platform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Embedded control firmware  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vision tracking software [</a:t>
            </a:r>
            <a:r>
              <a:rPr lang="en-GB" sz="1600" b="1" dirty="0">
                <a:latin typeface="Verdana" panose="020B0604030504040204" pitchFamily="34" charset="0"/>
                <a:ea typeface="Verdana" panose="020B0604030504040204" pitchFamily="34" charset="0"/>
              </a:rPr>
              <a:t>if time constraints allows</a:t>
            </a: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]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Control algorithm (e.g., PID) with experimental results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1600" dirty="0">
                <a:latin typeface="Verdana" panose="020B0604030504040204" pitchFamily="34" charset="0"/>
                <a:ea typeface="Verdana" panose="020B0604030504040204" pitchFamily="34" charset="0"/>
              </a:rPr>
              <a:t>Documentation (thesis, CAD, code, and BOM)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 algn="just">
              <a:buClr>
                <a:srgbClr val="000000"/>
              </a:buClr>
              <a:buFont typeface="Arial"/>
              <a:buChar char="•"/>
            </a:pPr>
            <a:r>
              <a:rPr lang="en-GB" sz="20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Limitations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multi-ball manipulation or juggling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 advanced AI/ML control unless specified</a:t>
            </a:r>
          </a:p>
          <a:p>
            <a:pPr marL="1200240" lvl="2" indent="-285120" algn="just">
              <a:buClr>
                <a:srgbClr val="000000"/>
              </a:buClr>
              <a:buFont typeface="Arial"/>
              <a:buChar char="•"/>
            </a:pPr>
            <a:r>
              <a:rPr lang="en-US" sz="1600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Limited operation in controlled indoor conditions only</a:t>
            </a:r>
            <a:endParaRPr lang="en-GB" sz="1600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GB" sz="24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342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Thesis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goal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4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637970" y="1493520"/>
            <a:ext cx="7916760" cy="363030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Main objective</a:t>
            </a:r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dirty="0"/>
              <a:t>	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The objective is to build a platform that can automatically keep a ball bouncing by tracking its motion with a camera and adjusting the platform in real time.</a:t>
            </a:r>
          </a:p>
          <a:p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Sub-objectives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Build the hardware platform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 camera-based ball tracking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Develop and tune a closed-loop control algorithm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Integrate sensing and actuation in real time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Evaluate system performance through experiments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16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06B8-4BB3-DF98-5FEF-FBE3F848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6BC15006-4478-E0ED-625F-CCB8730978A8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</a:t>
            </a: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B7EFF7C2-D421-2AA3-5252-F93A13BF4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FAF9C777-587D-0464-FE69-BB343480B61A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5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ABEEE73F-B07C-BF49-2B06-7DA04478A139}"/>
              </a:ext>
            </a:extLst>
          </p:cNvPr>
          <p:cNvSpPr/>
          <p:nvPr/>
        </p:nvSpPr>
        <p:spPr>
          <a:xfrm>
            <a:off x="319320" y="1083240"/>
            <a:ext cx="7048800" cy="398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 </a:t>
            </a:r>
            <a:r>
              <a:rPr lang="en-US" sz="20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</a:t>
            </a: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last 2 weeks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CustomShape 1">
            <a:extLst>
              <a:ext uri="{FF2B5EF4-FFF2-40B4-BE49-F238E27FC236}">
                <a16:creationId xmlns:a16="http://schemas.microsoft.com/office/drawing/2014/main" id="{C286F34A-F83F-04D0-4F43-B989B4F6320D}"/>
              </a:ext>
            </a:extLst>
          </p:cNvPr>
          <p:cNvSpPr/>
          <p:nvPr/>
        </p:nvSpPr>
        <p:spPr>
          <a:xfrm>
            <a:off x="257180" y="1447920"/>
            <a:ext cx="6946259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8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F757E-49B4-40B4-C3CB-312293ACED3E}"/>
              </a:ext>
            </a:extLst>
          </p:cNvPr>
          <p:cNvSpPr txBox="1"/>
          <p:nvPr/>
        </p:nvSpPr>
        <p:spPr>
          <a:xfrm>
            <a:off x="257180" y="1993146"/>
            <a:ext cx="694625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3D print all the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Setup the camera.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Begin detection of ball with camera feed and make step movements.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1"/>
            <a:endParaRPr lang="en-US" sz="16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73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Progress</a:t>
            </a: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6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6280985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completed</a:t>
            </a:r>
            <a:endParaRPr lang="en-US" sz="1800" b="1" strike="noStrike" spc="-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CustomShape 1">
            <a:extLst>
              <a:ext uri="{FF2B5EF4-FFF2-40B4-BE49-F238E27FC236}">
                <a16:creationId xmlns:a16="http://schemas.microsoft.com/office/drawing/2014/main" id="{DC916DC8-B1DB-9FFD-1E1A-D480484C34F5}"/>
              </a:ext>
            </a:extLst>
          </p:cNvPr>
          <p:cNvSpPr/>
          <p:nvPr/>
        </p:nvSpPr>
        <p:spPr>
          <a:xfrm>
            <a:off x="319320" y="1386960"/>
            <a:ext cx="6498040" cy="34148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840" indent="-2851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Completed tasks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600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Almost completed the 3 D printing.</a:t>
            </a:r>
          </a:p>
          <a:p>
            <a:pPr marL="743670" lvl="1" indent="-285750"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920" lvl="1">
              <a:buClr>
                <a:srgbClr val="000000"/>
              </a:buClr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b="1" spc="-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not completed</a:t>
            </a:r>
          </a:p>
          <a:p>
            <a:endParaRPr lang="en-US" b="1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While setting up the camera with the unity, the Unity is crashing, showing runtime error.</a:t>
            </a:r>
          </a:p>
          <a:p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743040" lvl="1" indent="-285120"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2055585-6FE4-7AEF-AD72-CF5FB31B9A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081" y="1258452"/>
            <a:ext cx="2083171" cy="24377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657C6A-C033-D377-9691-17571F19F69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7825" y="3885469"/>
            <a:ext cx="4327427" cy="228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91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22B9-F494-9409-E6CD-897085CA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>
            <a:extLst>
              <a:ext uri="{FF2B5EF4-FFF2-40B4-BE49-F238E27FC236}">
                <a16:creationId xmlns:a16="http://schemas.microsoft.com/office/drawing/2014/main" id="{415FDA26-F59F-BBC2-E670-50AE4B8FDC0D}"/>
              </a:ext>
            </a:extLst>
          </p:cNvPr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>
            <a:extLst>
              <a:ext uri="{FF2B5EF4-FFF2-40B4-BE49-F238E27FC236}">
                <a16:creationId xmlns:a16="http://schemas.microsoft.com/office/drawing/2014/main" id="{4A05FF13-F4AD-78FB-0B03-5742EB5BFC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5AAA3914-4AB7-F17D-7352-7240009E9961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7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8ABEEB-5EDB-239D-03D4-AF38FFC1EA26}"/>
              </a:ext>
            </a:extLst>
          </p:cNvPr>
          <p:cNvSpPr txBox="1"/>
          <p:nvPr/>
        </p:nvSpPr>
        <p:spPr>
          <a:xfrm>
            <a:off x="499858" y="1345386"/>
            <a:ext cx="70488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Problems Faced</a:t>
            </a:r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3 D printer was having some malfunctions, so printing took more time than anticipated.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While setting up camera with the unity, Unity was crashing, it is still a problem, But I think it is because of some communication issue.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IN" b="1" dirty="0">
                <a:latin typeface="Verdana" panose="020B0604030504040204" pitchFamily="34" charset="0"/>
                <a:ea typeface="Verdana" panose="020B0604030504040204" pitchFamily="34" charset="0"/>
              </a:rPr>
              <a:t>Problem Solved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Cleaned the printers nozzle and the plate, think it was because of the fingerprints in the build platform.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94CBE-4604-75CB-1A69-E6D388B4A00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341705" y="709415"/>
            <a:ext cx="2156868" cy="32823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1B7461-7614-86A0-78AC-5622860A38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228" y="3682386"/>
            <a:ext cx="3027822" cy="175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05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 lIns="91440" tIns="45720" rIns="91440" bIns="45720" anchor="t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 dirty="0">
                <a:solidFill>
                  <a:srgbClr val="1A4273"/>
                </a:solidFill>
                <a:latin typeface="AvantGarde Md BT"/>
              </a:rPr>
              <a:t>           Plan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for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the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next</a:t>
            </a:r>
            <a:r>
              <a:rPr lang="de-DE" b="1" dirty="0">
                <a:solidFill>
                  <a:srgbClr val="1A4273"/>
                </a:solidFill>
                <a:latin typeface="AvantGarde Md BT"/>
              </a:rPr>
              <a:t> 2 </a:t>
            </a:r>
            <a:r>
              <a:rPr lang="de-DE" b="1" dirty="0" err="1">
                <a:solidFill>
                  <a:srgbClr val="1A4273"/>
                </a:solidFill>
                <a:latin typeface="AvantGarde Md BT"/>
              </a:rPr>
              <a:t>weeks</a:t>
            </a:r>
            <a:endParaRPr lang="de-DE" b="1" dirty="0">
              <a:solidFill>
                <a:srgbClr val="1A4273"/>
              </a:solidFill>
              <a:latin typeface="AvantGarde Md BT"/>
            </a:endParaRPr>
          </a:p>
        </p:txBody>
      </p:sp>
      <p:pic>
        <p:nvPicPr>
          <p:cNvPr id="8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Foliennummernplatzhalter 8">
            <a:extLst>
              <a:ext uri="{FF2B5EF4-FFF2-40B4-BE49-F238E27FC236}">
                <a16:creationId xmlns:a16="http://schemas.microsoft.com/office/drawing/2014/main" id="{BB36C356-8ED2-4D48-8D54-FF2177A806BC}"/>
              </a:ext>
            </a:extLst>
          </p:cNvPr>
          <p:cNvSpPr txBox="1">
            <a:spLocks/>
          </p:cNvSpPr>
          <p:nvPr/>
        </p:nvSpPr>
        <p:spPr>
          <a:xfrm>
            <a:off x="903922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5FEBB84-A833-4D9F-8E64-647D4209DE1B}" type="slidenum">
              <a:rPr lang="de-DE" sz="1200">
                <a:solidFill>
                  <a:schemeClr val="tx1">
                    <a:tint val="75000"/>
                  </a:schemeClr>
                </a:solidFill>
              </a:rPr>
              <a:pPr algn="r"/>
              <a:t>8</a:t>
            </a:fld>
            <a:endParaRPr lang="de-DE" sz="120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3" name="CustomShape 3">
            <a:extLst>
              <a:ext uri="{FF2B5EF4-FFF2-40B4-BE49-F238E27FC236}">
                <a16:creationId xmlns:a16="http://schemas.microsoft.com/office/drawing/2014/main" id="{5620C2E6-6A11-3ABD-CA9E-4AFD19642B4E}"/>
              </a:ext>
            </a:extLst>
          </p:cNvPr>
          <p:cNvSpPr/>
          <p:nvPr/>
        </p:nvSpPr>
        <p:spPr>
          <a:xfrm>
            <a:off x="319320" y="1083240"/>
            <a:ext cx="7048800" cy="13527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Upcoming tasks: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Setup the camera.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Begin detection of ball with camera feed and make step movements.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Verdana" panose="020B0604030504040204" pitchFamily="34" charset="0"/>
                <a:ea typeface="Verdana" panose="020B0604030504040204" pitchFamily="34" charset="0"/>
              </a:rPr>
              <a:t>Assembling the printed parts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922A17-FE23-C065-995C-5C3CFB943674}"/>
              </a:ext>
            </a:extLst>
          </p:cNvPr>
          <p:cNvSpPr txBox="1"/>
          <p:nvPr/>
        </p:nvSpPr>
        <p:spPr>
          <a:xfrm>
            <a:off x="390440" y="2523036"/>
            <a:ext cx="70488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b="1" dirty="0">
                <a:latin typeface="Verdana" panose="020B0604030504040204" pitchFamily="34" charset="0"/>
                <a:ea typeface="Verdana" panose="020B0604030504040204" pitchFamily="34" charset="0"/>
              </a:rPr>
              <a:t>Expected outcomes: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Will be able to track the ball on the camera frame.</a:t>
            </a:r>
          </a:p>
          <a:p>
            <a:pPr lvl="1"/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4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4" name="Picture 2" descr="https://scontent-dus1-1.xx.fbcdn.net/v/t31.0-8/479427_393094454061277_801847919_o.jpg?_nc_cat=109&amp;_nc_ht=scontent-dus1-1.xx&amp;oh=98fec9207dda7021b746b9394ff6ba0b&amp;oe=5CE9F3A9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 bwMode="auto">
          <a:xfrm>
            <a:off x="0" y="1120866"/>
            <a:ext cx="8706866" cy="4616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/>
          <p:cNvSpPr txBox="1">
            <a:spLocks/>
          </p:cNvSpPr>
          <p:nvPr/>
        </p:nvSpPr>
        <p:spPr bwMode="auto">
          <a:xfrm>
            <a:off x="0" y="1422779"/>
            <a:ext cx="8760545" cy="136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Verdana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 pitchFamily="34" charset="0"/>
                <a:ea typeface="+mj-ea"/>
                <a:cs typeface="+mj-cs"/>
              </a:rPr>
              <a:t>Herzlichen Dank für Ihr Interesse!</a:t>
            </a:r>
          </a:p>
        </p:txBody>
      </p:sp>
      <p:sp>
        <p:nvSpPr>
          <p:cNvPr id="37" name="Textfeld 36"/>
          <p:cNvSpPr txBox="1"/>
          <p:nvPr/>
        </p:nvSpPr>
        <p:spPr>
          <a:xfrm>
            <a:off x="7836024" y="4483508"/>
            <a:ext cx="4355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Prof. Dr.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</a:t>
            </a:r>
            <a:r>
              <a:rPr lang="de-DE" sz="1400" b="1" dirty="0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Dobriborsci</a:t>
            </a:r>
            <a:endParaRPr lang="de-DE" sz="1400" b="1" dirty="0">
              <a:solidFill>
                <a:srgbClr val="1F497D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de-DE" sz="1400" b="1" dirty="0" err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Dmitrii.dobriborsci@th-deg.de</a:t>
            </a:r>
            <a:endParaRPr lang="de-DE" sz="14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" name="Textfeld 37"/>
          <p:cNvSpPr txBox="1"/>
          <p:nvPr/>
        </p:nvSpPr>
        <p:spPr>
          <a:xfrm>
            <a:off x="8992001" y="2126420"/>
            <a:ext cx="3048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Technologie 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rgbClr val="1F497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Campus Cham</a:t>
            </a:r>
          </a:p>
          <a:p>
            <a:pPr algn="r" fontAlgn="base">
              <a:spcAft>
                <a:spcPct val="0"/>
              </a:spcAft>
            </a:pPr>
            <a:endParaRPr lang="de-DE" sz="2000" b="1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Badstraße 21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93413 Cham</a:t>
            </a:r>
          </a:p>
          <a:p>
            <a:pPr algn="r" fontAlgn="base">
              <a:spcAft>
                <a:spcPct val="0"/>
              </a:spcAft>
            </a:pPr>
            <a:r>
              <a:rPr lang="de-DE" sz="2000" b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www.tc-cham.de</a:t>
            </a:r>
          </a:p>
        </p:txBody>
      </p:sp>
      <p:sp>
        <p:nvSpPr>
          <p:cNvPr id="8" name="Rechteck 9"/>
          <p:cNvSpPr txBox="1">
            <a:spLocks noChangeArrowheads="1"/>
          </p:cNvSpPr>
          <p:nvPr/>
        </p:nvSpPr>
        <p:spPr>
          <a:xfrm>
            <a:off x="2027" y="288321"/>
            <a:ext cx="6598278" cy="461665"/>
          </a:xfrm>
          <a:prstGeom prst="rect">
            <a:avLst/>
          </a:prstGeom>
          <a:solidFill>
            <a:schemeClr val="bg1">
              <a:lumMod val="85000"/>
              <a:alpha val="80000"/>
            </a:schemeClr>
          </a:solidFill>
        </p:spPr>
        <p:txBody>
          <a:bodyPr wrap="square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vantGarde Bk BT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tabLst>
                <a:tab pos="1466850" algn="l"/>
              </a:tabLst>
              <a:defRPr/>
            </a:pPr>
            <a:r>
              <a:rPr lang="de-DE" b="1">
                <a:solidFill>
                  <a:srgbClr val="8064A2">
                    <a:lumMod val="50000"/>
                  </a:srgbClr>
                </a:solidFill>
                <a:latin typeface="AvantGarde Md BT" panose="020B0602020202020204" pitchFamily="34" charset="0"/>
              </a:rPr>
              <a:t>	</a:t>
            </a:r>
            <a:r>
              <a:rPr lang="de-DE" b="1">
                <a:solidFill>
                  <a:srgbClr val="002060"/>
                </a:solidFill>
                <a:latin typeface="AvantGarde Md BT" panose="020B0602020202020204" pitchFamily="34" charset="0"/>
              </a:rPr>
              <a:t>KONTAKT</a:t>
            </a:r>
          </a:p>
        </p:txBody>
      </p:sp>
      <p:pic>
        <p:nvPicPr>
          <p:cNvPr id="9" name="Picture 5" descr="I:\arr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858" y="394254"/>
            <a:ext cx="276225" cy="27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1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174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49474</TotalTime>
  <Words>555</Words>
  <Application>Microsoft Office PowerPoint</Application>
  <PresentationFormat>Widescreen</PresentationFormat>
  <Paragraphs>102</Paragraphs>
  <Slides>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  <vt:variant>
        <vt:lpstr>Custom Shows</vt:lpstr>
      </vt:variant>
      <vt:variant>
        <vt:i4>1</vt:i4>
      </vt:variant>
    </vt:vector>
  </HeadingPairs>
  <TitlesOfParts>
    <vt:vector size="18" baseType="lpstr">
      <vt:lpstr>Aptos</vt:lpstr>
      <vt:lpstr>Aptos Display</vt:lpstr>
      <vt:lpstr>Arial</vt:lpstr>
      <vt:lpstr>AvantGarde Bk BT</vt:lpstr>
      <vt:lpstr>AvantGarde Md BT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Dmitrii Dobriborsci</dc:creator>
  <cp:keywords/>
  <dc:description/>
  <cp:lastModifiedBy>Anandhu Vijayan</cp:lastModifiedBy>
  <cp:revision>64</cp:revision>
  <cp:lastPrinted>2025-01-26T21:13:28Z</cp:lastPrinted>
  <dcterms:created xsi:type="dcterms:W3CDTF">2019-09-09T12:43:43Z</dcterms:created>
  <dcterms:modified xsi:type="dcterms:W3CDTF">2026-02-26T17:50:20Z</dcterms:modified>
  <cp:category/>
</cp:coreProperties>
</file>