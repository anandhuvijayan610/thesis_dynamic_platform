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1"/>
  </p:notesMasterIdLst>
  <p:sldIdLst>
    <p:sldId id="448" r:id="rId2"/>
    <p:sldId id="598" r:id="rId3"/>
    <p:sldId id="609" r:id="rId4"/>
    <p:sldId id="596" r:id="rId5"/>
    <p:sldId id="608" r:id="rId6"/>
    <p:sldId id="607" r:id="rId7"/>
    <p:sldId id="604" r:id="rId8"/>
    <p:sldId id="605" r:id="rId9"/>
    <p:sldId id="438" r:id="rId10"/>
  </p:sldIdLst>
  <p:sldSz cx="12192000" cy="6858000"/>
  <p:notesSz cx="6858000" cy="9926638"/>
  <p:custShowLst>
    <p:custShow name="Zielgruppenpräsentation 1" id="0">
      <p:sldLst/>
    </p:custShow>
  </p:custShowLst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47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orient="horz" pos="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273"/>
    <a:srgbClr val="0000CC"/>
    <a:srgbClr val="009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0"/>
    <p:restoredTop sz="90752"/>
  </p:normalViewPr>
  <p:slideViewPr>
    <p:cSldViewPr snapToGrid="0">
      <p:cViewPr varScale="1">
        <p:scale>
          <a:sx n="75" d="100"/>
          <a:sy n="75" d="100"/>
        </p:scale>
        <p:origin x="1406" y="43"/>
      </p:cViewPr>
      <p:guideLst>
        <p:guide pos="347"/>
        <p:guide orient="horz" pos="187"/>
        <p:guide orient="horz" pos="4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F5B8A-E857-441B-B26C-91E2ED861DAE}" type="datetimeFigureOut">
              <a:rPr lang="de-DE" smtClean="0"/>
              <a:t>18.01.2026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3FE92-1802-41EE-B167-409214DF4A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772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8785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2299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464C6-D67D-9C0C-C8E6-EAF4A89E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5F622-62A3-2B69-66BD-EEBD7051B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013F3-884C-6FB4-B8E3-05193A0E0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11792-BEDF-0E78-59E8-BB231C597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55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148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24A1-A5E3-90F6-90E3-A5F624CD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6007F-8E93-539B-E744-39BFB04CB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86B79-08D4-F108-8589-87B3195DA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BCCF7-95FD-13B7-2688-652230AFF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44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19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55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0000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5B136-E37F-092B-DD07-C806AB3FB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D89AC-D19D-1DC6-36BA-257766BBD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A2EC1-CE26-2A82-0E96-E70A5033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18.01.2026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74793-F065-49B5-DE8A-4E4F024B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88F0F-33D3-62C3-4FA1-20FC48DA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245976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9243-A7C2-E4C3-E59D-501ED803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D7B56-AB5E-E15F-7C6F-310059FEC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A989-4A2B-57AE-6F17-4078CD88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18.01.2026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206CD-D8ED-08C5-01D6-268029B0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0E2D0-F19C-8C53-D452-A84F38F8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487495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AF5E-FDAF-585B-5973-647D2E08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4ADC5-0A79-4096-2C03-93E7DC7BE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346CD-3B61-3F00-B425-40BF9806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18.01.2026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922A6-D442-C069-677C-5724536B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7F7E-D05D-E432-3BF8-0024D640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2524029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9F1A-F63A-A88C-87D5-7C7A0F0BD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8FBE-8984-6A87-3798-0FA795D43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6C352-E6B1-9D41-2BC0-614DEDEE7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13541-E76D-2D30-8CA8-1E943AAF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18.01.2026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7EC38-DDF7-F99D-D1B7-E3032956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977A3-E3FC-020E-2084-02441429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6862385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70A2-422D-0C14-F99F-EBFC6EB5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FDD8D-5B20-D8BC-7434-48A87FE71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A0E9B-AF70-4B6C-E7A0-D78B993AD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24D11-9A5B-BBC6-B26A-6D6F4B435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1DB75-AEA7-AD0A-D371-6474FCF9C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4690E6-7541-92AE-C6B4-956505F6D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18.01.2026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B0E13-C764-7891-EDA6-F6BBF157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B3E13-7AB9-6ECE-E5E0-CC890F54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9312379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D316-B376-F28C-B3E5-BC500635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5BFF1-C808-E3D7-98DD-328815A0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18.01.2026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AA158-D590-B74E-E612-CA18B9FD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9EAE2-DB0E-CDB8-FEEF-22FFEBAC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900791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4EAEE-D00C-AB07-2A7B-91A16870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18.01.2026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8560E-8FBE-666B-B5ED-AA1AA169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70300-2C49-3180-1CA1-7F0DC3C1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024515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CFD7-FBD6-E2A7-3F85-9087A4156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361C-6EFC-0F4C-3A8C-805379F15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8009E-60D3-AE32-56CA-13C197153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823ED-8BEE-23E5-4879-F78267279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18.01.2026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7C7AF-F05A-FB73-8BBE-1C7F96FE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B402E-D4FF-92DC-4DFB-D5FFB061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79341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3966-7437-04D6-168C-3A0A440F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1A3E1-FFAA-EF75-809D-F935D1872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091C5-5C85-2236-A8F5-C8F7B6D1B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63FCF-D6D4-B2EA-9CB2-5666CB6D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18.01.2026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AAADA-E8AF-5240-4C2F-440340107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B9825-A341-FB53-A965-64C7A488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688127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CD6A-4631-85B3-9DBA-7C52B63C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B4DE8-E0EB-4A85-9622-73AC2D8A4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AA130-FD05-D87D-5E3A-EF5F8934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18.01.2026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85FF5-E267-F0F8-8272-95DB58AC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53C01-FDFC-0762-76E9-6B9A2286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70571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F8EA9-64E6-1465-AD9D-D6C48559B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68643-F33D-A7E4-30E8-C375DD07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F1371-406D-0096-03A7-36656F35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18.01.2026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D070-DB23-17C7-3CF7-1E470AD5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9C0F6-6295-D0E0-D653-CA987DAB2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116324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>
                <a:latin typeface="AvantGarde Bk BT" panose="020B0402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0" hasCustomPrompt="1"/>
          </p:nvPr>
        </p:nvSpPr>
        <p:spPr>
          <a:xfrm>
            <a:off x="515937" y="549276"/>
            <a:ext cx="11160125" cy="1057334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AvantGarde Bk BT" panose="020B0402020202020204" pitchFamily="34" charset="0"/>
                <a:ea typeface="Verdana" panose="020B0604030504040204" pitchFamily="34" charset="0"/>
              </a:defRPr>
            </a:lvl1pPr>
            <a:lvl2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2pPr>
            <a:lvl3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3pPr>
            <a:lvl4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4pPr>
            <a:lvl5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FARBIGE ÜBERSCHRIFT</a:t>
            </a:r>
          </a:p>
          <a:p>
            <a:pPr lvl="0"/>
            <a:r>
              <a:rPr lang="de-DE"/>
              <a:t>NICHT FARBIGE ÜBERSCHRIFT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030" y="6233527"/>
            <a:ext cx="1535053" cy="149501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8814" y="424812"/>
            <a:ext cx="1427248" cy="248925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515938" y="3546475"/>
            <a:ext cx="11160125" cy="268705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sz="1400" baseline="0"/>
            </a:lvl1pPr>
          </a:lstStyle>
          <a:p>
            <a:fld id="{351A0EE1-B564-4BC7-9F42-429FBA12ED94}" type="datetime1">
              <a:rPr lang="de-DE" smtClean="0"/>
              <a:t>18.01.2026</a:t>
            </a:fld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2211" y="298076"/>
            <a:ext cx="2439921" cy="7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86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355">
          <p15:clr>
            <a:srgbClr val="FBAE40"/>
          </p15:clr>
        </p15:guide>
        <p15:guide id="3" pos="325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3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31D7DA4-ABF3-C14C-AEA5-0768E44C206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600" y="1824000"/>
            <a:ext cx="11294400" cy="4483200"/>
          </a:xfrm>
        </p:spPr>
        <p:txBody>
          <a:bodyPr>
            <a:normAutofit/>
          </a:bodyPr>
          <a:lstStyle>
            <a:lvl1pPr marL="228594" marR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67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/>
              <a:t>Inhalt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DA4FBD60-81AB-444E-AE3C-D549E11A76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9" y="527562"/>
            <a:ext cx="4205692" cy="48013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108000" tIns="324000" anchor="b">
            <a:noAutofit/>
          </a:bodyPr>
          <a:lstStyle>
            <a:lvl1pPr algn="l">
              <a:defRPr sz="2800" cap="all" baseline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878C3EAF-253C-C144-B1DD-069F9B0FE8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7160" y="1032630"/>
            <a:ext cx="11290841" cy="434137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800" cap="all" baseline="0">
                <a:solidFill>
                  <a:srgbClr val="19427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BEARBEITEN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C997409-765A-4B4D-95DD-51096B8A5B84}"/>
              </a:ext>
            </a:extLst>
          </p:cNvPr>
          <p:cNvSpPr/>
          <p:nvPr userDrawn="1"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sz="240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A058594-6570-8E48-B44F-F95FBD79E9F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31" y="6330632"/>
            <a:ext cx="1535053" cy="14950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2211" y="298076"/>
            <a:ext cx="2439921" cy="7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7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34D51-BD2B-0B54-D429-5C411B69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F573C-7C1F-D00E-7296-60A4F1E1C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AF2F3-F697-37E6-2667-313CB5F09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B24A7-BDE8-4B7F-93C3-66196B90EB91}" type="datetime1">
              <a:rPr lang="de-DE" smtClean="0"/>
              <a:t>18.01.2026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EF40D-518C-0245-0F8E-42D9C7418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41BA-6931-0913-8BAE-148BC78B2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515939" y="532022"/>
            <a:ext cx="4690681" cy="460016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1519896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3141662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202047"/>
              <a:gd name="connsiteY0" fmla="*/ 17253 h 416884"/>
              <a:gd name="connsiteX1" fmla="*/ 3202047 w 3202047"/>
              <a:gd name="connsiteY1" fmla="*/ 0 h 416884"/>
              <a:gd name="connsiteX2" fmla="*/ 3141662 w 3202047"/>
              <a:gd name="connsiteY2" fmla="*/ 408257 h 416884"/>
              <a:gd name="connsiteX3" fmla="*/ 34505 w 3202047"/>
              <a:gd name="connsiteY3" fmla="*/ 416884 h 416884"/>
              <a:gd name="connsiteX4" fmla="*/ 0 w 3202047"/>
              <a:gd name="connsiteY4" fmla="*/ 17253 h 416884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41662 w 3202047"/>
              <a:gd name="connsiteY2" fmla="*/ 451389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67541 w 3202047"/>
              <a:gd name="connsiteY2" fmla="*/ 416884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Inhaltsplatzhalter 1"/>
          <p:cNvSpPr>
            <a:spLocks noGrp="1"/>
          </p:cNvSpPr>
          <p:nvPr>
            <p:ph sz="quarter" idx="10"/>
          </p:nvPr>
        </p:nvSpPr>
        <p:spPr>
          <a:xfrm>
            <a:off x="515936" y="555931"/>
            <a:ext cx="11160125" cy="1057334"/>
          </a:xfrm>
        </p:spPr>
        <p:txBody>
          <a:bodyPr/>
          <a:lstStyle/>
          <a:p>
            <a:r>
              <a:rPr lang="de-DE" dirty="0"/>
              <a:t>Intelligent Robotics Lab</a:t>
            </a:r>
            <a:endParaRPr lang="de-DE" dirty="0">
              <a:solidFill>
                <a:srgbClr val="1A4273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2063552" y="1693621"/>
            <a:ext cx="8229600" cy="183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algn="ctr">
              <a:spcBef>
                <a:spcPct val="0"/>
              </a:spcBef>
              <a:buNone/>
              <a:defRPr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de-DE"/>
          </a:p>
        </p:txBody>
      </p:sp>
      <p:pic>
        <p:nvPicPr>
          <p:cNvPr id="10" name="Picture 2" descr="http://tc-cham.hdu-deggendorf.de/images/stories/bildarchiv/bild_07_g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1451" y="4327479"/>
            <a:ext cx="2218861" cy="1664146"/>
          </a:xfrm>
          <a:prstGeom prst="rect">
            <a:avLst/>
          </a:prstGeom>
          <a:noFill/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0236" y="4327479"/>
            <a:ext cx="2180960" cy="1666130"/>
          </a:xfrm>
          <a:prstGeom prst="rect">
            <a:avLst/>
          </a:prstGeom>
        </p:spPr>
      </p:pic>
      <p:sp>
        <p:nvSpPr>
          <p:cNvPr id="16" name="Titel 1"/>
          <p:cNvSpPr txBox="1">
            <a:spLocks/>
          </p:cNvSpPr>
          <p:nvPr/>
        </p:nvSpPr>
        <p:spPr>
          <a:xfrm>
            <a:off x="2590800" y="1784065"/>
            <a:ext cx="6858000" cy="16855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Octo-Bouncer Master Thesis</a:t>
            </a:r>
            <a:endParaRPr lang="ru-RU" b="1" dirty="0">
              <a:solidFill>
                <a:schemeClr val="tx2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06351" y="4335689"/>
            <a:ext cx="3183630" cy="1664791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6" t="11401" r="16399" b="13091"/>
          <a:stretch/>
        </p:blipFill>
        <p:spPr>
          <a:xfrm>
            <a:off x="989759" y="4335689"/>
            <a:ext cx="2356337" cy="1642073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42F1C04C-6D2B-1016-C519-0B47A0C329A2}"/>
              </a:ext>
            </a:extLst>
          </p:cNvPr>
          <p:cNvSpPr txBox="1">
            <a:spLocks/>
          </p:cNvSpPr>
          <p:nvPr/>
        </p:nvSpPr>
        <p:spPr>
          <a:xfrm>
            <a:off x="7274256" y="3523669"/>
            <a:ext cx="4289947" cy="83092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Student: Anandhu Vijayan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Supervisor: Prof. Dr. 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Dmitrii</a:t>
            </a: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 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Dobriborsci</a:t>
            </a:r>
            <a:endParaRPr lang="en-US" sz="1400" dirty="0">
              <a:solidFill>
                <a:srgbClr val="1A4273"/>
              </a:solidFill>
              <a:latin typeface="Verdana"/>
              <a:ea typeface="Verdana"/>
              <a:cs typeface="+mj-lt"/>
            </a:endParaRPr>
          </a:p>
          <a:p>
            <a:pPr algn="ctr">
              <a:lnSpc>
                <a:spcPct val="150000"/>
              </a:lnSpc>
            </a:pPr>
            <a:endParaRPr lang="de-DE" sz="2400" b="1" dirty="0">
              <a:solidFill>
                <a:srgbClr val="1A4273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82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Problem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definition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2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16BDB008-7C21-0FF8-8C8B-616B4F738079}"/>
              </a:ext>
            </a:extLst>
          </p:cNvPr>
          <p:cNvSpPr/>
          <p:nvPr/>
        </p:nvSpPr>
        <p:spPr>
          <a:xfrm>
            <a:off x="499858" y="1475346"/>
            <a:ext cx="9282742" cy="39073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Octo-Bouncer Master Thesis – Complete Execution Plan</a:t>
            </a:r>
          </a:p>
          <a:p>
            <a:pPr marL="720" algn="just">
              <a:lnSpc>
                <a:spcPct val="100000"/>
              </a:lnSpc>
              <a:buClr>
                <a:srgbClr val="000000"/>
              </a:buClr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One of the most challenging problems in a control system is balancing a system. The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Octa-Bouncer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is a multi-actuated dynamic manipulation system that uses camera-based ball tracking and closed-loop control to generate corrective platform motions that stabilize and influence a bouncing ball.</a:t>
            </a:r>
          </a:p>
          <a:p>
            <a:pPr marL="720" algn="just">
              <a:lnSpc>
                <a:spcPct val="100000"/>
              </a:lnSpc>
              <a:buClr>
                <a:srgbClr val="000000"/>
              </a:buClr>
            </a:pPr>
            <a:endParaRPr lang="en-US" sz="2400" dirty="0"/>
          </a:p>
          <a:p>
            <a:pPr marL="343620" indent="-342900" algn="just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Problem statement</a:t>
            </a:r>
          </a:p>
          <a:p>
            <a:pPr marL="800820" lvl="1" indent="-342900"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To develop a real-time robotic platform that can track, predict, and control the motion of a bouncing ball using multiple actuators and visual feedback, ensuring continuous and stable bouncing through closed-loop control.</a:t>
            </a: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This thesis is relevant because it addresses the challenge of controlling fast, unpredictable dynamic objects using real-time feedback. The system demonstrates important modern robotics skills in computer vision, control, and embedded systems.</a:t>
            </a: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544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D2A0-67A1-0396-EBD3-23249783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FD692C1F-1511-5EAC-55A0-6C593C6A6A2A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Problem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definition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108506A5-4C3A-0796-409B-4D8E3B959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75A1DBDC-03AD-3EC5-3D88-1B1DBB2EA031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3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28D63622-872E-888E-107A-A9F9A9BDDFDD}"/>
              </a:ext>
            </a:extLst>
          </p:cNvPr>
          <p:cNvSpPr/>
          <p:nvPr/>
        </p:nvSpPr>
        <p:spPr>
          <a:xfrm>
            <a:off x="0" y="1076960"/>
            <a:ext cx="11247120" cy="44920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Design and build a multi-actuated platform to control a bouncing ball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 camera-based ball tracking and real-time closed-loop control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Integrate embedded hardware, actuators, and computer vision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system performance through experiments</a:t>
            </a:r>
            <a:endParaRPr lang="en-US" sz="2400" b="1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2000" b="1" dirty="0">
                <a:latin typeface="Verdana" panose="020B0604030504040204" pitchFamily="34" charset="0"/>
                <a:ea typeface="Verdana" panose="020B0604030504040204" pitchFamily="34" charset="0"/>
              </a:rPr>
              <a:t>Deliverables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Functional hardware platform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Embedded control firmware  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vision tracking software [</a:t>
            </a:r>
            <a:r>
              <a:rPr lang="en-GB" sz="1600" b="1" dirty="0">
                <a:latin typeface="Verdana" panose="020B0604030504040204" pitchFamily="34" charset="0"/>
                <a:ea typeface="Verdana" panose="020B0604030504040204" pitchFamily="34" charset="0"/>
              </a:rPr>
              <a:t>if time constraints allows</a:t>
            </a: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]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Control algorithm (e.g., PID) with experimental results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Documentation (thesis, CAD, code, and BOM)</a:t>
            </a:r>
            <a:endParaRPr lang="en-GB" sz="1600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24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Limitations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multi-ball manipulation or juggling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advanced AI/ML control unless specified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Limited operation in controlled indoor conditions only</a:t>
            </a:r>
            <a:endParaRPr lang="en-GB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GB" sz="2400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42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Thesis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goal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4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637970" y="1493520"/>
            <a:ext cx="7916760" cy="36303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 objective</a:t>
            </a:r>
            <a:endParaRPr lang="en-US" b="1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/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The objective is to build a platform that can automatically keep a ball bouncing by tracking its motion with a camera and adjusting the platform in real time.</a:t>
            </a:r>
          </a:p>
          <a:p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Sub-objectives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Build the hardware platform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 camera-based ball tracking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Develop and tune a closed-loop control algorithm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Integrate sensing and actuation in real 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system performance through experiments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166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06B8-4BB3-DF98-5FEF-FBE3F848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6BC15006-4478-E0ED-625F-CCB8730978A8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</a:t>
            </a: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B7EFF7C2-D421-2AA3-5252-F93A13BF4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FAF9C777-587D-0464-FE69-BB343480B61A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5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ABEEE73F-B07C-BF49-2B06-7DA04478A139}"/>
              </a:ext>
            </a:extLst>
          </p:cNvPr>
          <p:cNvSpPr/>
          <p:nvPr/>
        </p:nvSpPr>
        <p:spPr>
          <a:xfrm>
            <a:off x="319320" y="1083240"/>
            <a:ext cx="7048800" cy="398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 </a:t>
            </a:r>
            <a:r>
              <a:rPr lang="en-US" sz="20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last 2 weeks</a:t>
            </a:r>
            <a:endParaRPr lang="en-US" sz="1800" b="1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CustomShape 1">
            <a:extLst>
              <a:ext uri="{FF2B5EF4-FFF2-40B4-BE49-F238E27FC236}">
                <a16:creationId xmlns:a16="http://schemas.microsoft.com/office/drawing/2014/main" id="{C286F34A-F83F-04D0-4F43-B989B4F6320D}"/>
              </a:ext>
            </a:extLst>
          </p:cNvPr>
          <p:cNvSpPr/>
          <p:nvPr/>
        </p:nvSpPr>
        <p:spPr>
          <a:xfrm>
            <a:off x="257180" y="1447920"/>
            <a:ext cx="6946259" cy="21222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8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Hardware Planning &amp; Ordering</a:t>
            </a: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Finalize Bill of Materials (BOM)</a:t>
            </a: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Choose microcontroller, motors, drivers, camera, PSU</a:t>
            </a: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Compare suppliers within Germany/EU</a:t>
            </a: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Place all hardware orders</a:t>
            </a:r>
            <a:endParaRPr lang="en-US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840" indent="-285120">
              <a:buClr>
                <a:srgbClr val="000000"/>
              </a:buClr>
              <a:buFont typeface="Arial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Finding papers of similar projects</a:t>
            </a:r>
          </a:p>
          <a:p>
            <a:pPr marL="457920" lvl="1">
              <a:buClr>
                <a:srgbClr val="000000"/>
              </a:buClr>
            </a:pPr>
            <a:endParaRPr lang="en-US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73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Progress</a:t>
            </a: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6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319320" y="1083240"/>
            <a:ext cx="6280985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completed</a:t>
            </a:r>
            <a:endParaRPr lang="en-US" sz="1800" b="1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DC916DC8-B1DB-9FFD-1E1A-D480484C34F5}"/>
              </a:ext>
            </a:extLst>
          </p:cNvPr>
          <p:cNvSpPr/>
          <p:nvPr/>
        </p:nvSpPr>
        <p:spPr>
          <a:xfrm>
            <a:off x="540402" y="1359731"/>
            <a:ext cx="8498823" cy="19067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8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Completed tasks</a:t>
            </a: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Bill of Materials (BOM) completed</a:t>
            </a: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r>
              <a:rPr lang="en-IN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Motor , drivers, power Supply and Camera has not yet decided as there is a confusion for that I am seeking help.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Found a few papers of similar projects </a:t>
            </a: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</a:t>
            </a: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referencing</a:t>
            </a:r>
            <a:r>
              <a:rPr lang="en-US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CFD71C-8440-9720-EE2B-FF5F3ED20B1E}"/>
              </a:ext>
            </a:extLst>
          </p:cNvPr>
          <p:cNvSpPr txBox="1"/>
          <p:nvPr/>
        </p:nvSpPr>
        <p:spPr>
          <a:xfrm>
            <a:off x="776083" y="3266492"/>
            <a:ext cx="646664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Work NOT completed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DE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Purchasing has not yet made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Reasons: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Decision regarding the components has not yet confirmed</a:t>
            </a:r>
            <a:endParaRPr lang="en-DE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91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for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the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next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2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weeks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7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319320" y="1083240"/>
            <a:ext cx="7048800" cy="110654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Upcoming tasks: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Confirming the hardware components.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Placing orders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 basics of microcontroller, PID theory, Stepper basics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922A17-FE23-C065-995C-5C3CFB943674}"/>
              </a:ext>
            </a:extLst>
          </p:cNvPr>
          <p:cNvSpPr txBox="1"/>
          <p:nvPr/>
        </p:nvSpPr>
        <p:spPr>
          <a:xfrm>
            <a:off x="319320" y="2615369"/>
            <a:ext cx="70488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Expected outcomes: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Components purchased</a:t>
            </a:r>
            <a:endParaRPr lang="en-DE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Basics learned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Starts working on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Milestone</a:t>
            </a:r>
            <a:r>
              <a:rPr lang="en-DE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End of the above tasks, will be able to start working on the Prototype.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46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Questions,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needs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&amp; support</a:t>
            </a: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8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50B387-35CA-84D3-DF3C-B0C291E0175A}"/>
              </a:ext>
            </a:extLst>
          </p:cNvPr>
          <p:cNvSpPr txBox="1"/>
          <p:nvPr/>
        </p:nvSpPr>
        <p:spPr>
          <a:xfrm>
            <a:off x="709684" y="1630907"/>
            <a:ext cx="6087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Help required in confirming the hardware components.</a:t>
            </a:r>
          </a:p>
        </p:txBody>
      </p:sp>
    </p:spTree>
    <p:extLst>
      <p:ext uri="{BB962C8B-B14F-4D97-AF65-F5344CB8AC3E}">
        <p14:creationId xmlns:p14="http://schemas.microsoft.com/office/powerpoint/2010/main" val="3242764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4" name="Picture 2" descr="https://scontent-dus1-1.xx.fbcdn.net/v/t31.0-8/479427_393094454061277_801847919_o.jpg?_nc_cat=109&amp;_nc_ht=scontent-dus1-1.xx&amp;oh=98fec9207dda7021b746b9394ff6ba0b&amp;oe=5CE9F3A9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 bwMode="auto">
          <a:xfrm>
            <a:off x="0" y="1120866"/>
            <a:ext cx="8706866" cy="461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itel 1"/>
          <p:cNvSpPr txBox="1">
            <a:spLocks/>
          </p:cNvSpPr>
          <p:nvPr/>
        </p:nvSpPr>
        <p:spPr bwMode="auto">
          <a:xfrm>
            <a:off x="0" y="1422779"/>
            <a:ext cx="8760545" cy="1369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accent1"/>
                </a:solidFill>
                <a:latin typeface="Verdana" pitchFamily="34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Herzlichen Dank für Ihr Interesse!</a:t>
            </a:r>
          </a:p>
        </p:txBody>
      </p:sp>
      <p:sp>
        <p:nvSpPr>
          <p:cNvPr id="37" name="Textfeld 36"/>
          <p:cNvSpPr txBox="1"/>
          <p:nvPr/>
        </p:nvSpPr>
        <p:spPr>
          <a:xfrm>
            <a:off x="7836024" y="4483508"/>
            <a:ext cx="4355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de-DE" sz="1400" b="1" dirty="0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Prof. Dr. </a:t>
            </a: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Dmitrii</a:t>
            </a:r>
            <a:r>
              <a:rPr lang="de-DE" sz="1400" b="1" dirty="0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Dobriborsci</a:t>
            </a:r>
            <a:endParaRPr lang="de-DE" sz="1400" b="1" dirty="0">
              <a:solidFill>
                <a:srgbClr val="1F497D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Dmitrii.dobriborsci@th-deg.de</a:t>
            </a:r>
            <a:endParaRPr lang="de-DE" sz="14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8992001" y="2126420"/>
            <a:ext cx="304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Technologie 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Campus Cham</a:t>
            </a:r>
          </a:p>
          <a:p>
            <a:pPr algn="r" fontAlgn="base">
              <a:spcAft>
                <a:spcPct val="0"/>
              </a:spcAft>
            </a:pPr>
            <a:endParaRPr lang="de-DE" sz="2000" b="1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Badstraße 21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93413 Cham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www.tc-cham.de</a:t>
            </a:r>
          </a:p>
        </p:txBody>
      </p:sp>
      <p:sp>
        <p:nvSpPr>
          <p:cNvPr id="8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>
                <a:solidFill>
                  <a:srgbClr val="8064A2">
                    <a:lumMod val="50000"/>
                  </a:srgbClr>
                </a:solidFill>
                <a:latin typeface="AvantGarde Md BT" panose="020B0602020202020204" pitchFamily="34" charset="0"/>
              </a:rPr>
              <a:t>	</a:t>
            </a:r>
            <a:r>
              <a:rPr lang="de-DE" b="1">
                <a:solidFill>
                  <a:srgbClr val="002060"/>
                </a:solidFill>
                <a:latin typeface="AvantGarde Md BT" panose="020B0602020202020204" pitchFamily="34" charset="0"/>
              </a:rPr>
              <a:t>KONTAKT</a:t>
            </a:r>
          </a:p>
        </p:txBody>
      </p:sp>
      <p:pic>
        <p:nvPicPr>
          <p:cNvPr id="9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oliennummernplatzhalter 11"/>
          <p:cNvSpPr>
            <a:spLocks noGrp="1"/>
          </p:cNvSpPr>
          <p:nvPr>
            <p:ph type="sldNum" sz="quarter" idx="15"/>
          </p:nvPr>
        </p:nvSpPr>
        <p:spPr>
          <a:xfrm>
            <a:off x="9039225" y="6356350"/>
            <a:ext cx="2743200" cy="365125"/>
          </a:xfrm>
        </p:spPr>
        <p:txBody>
          <a:bodyPr/>
          <a:lstStyle/>
          <a:p>
            <a:fld id="{05FEBB84-A833-4D9F-8E64-647D4209DE1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17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49188</TotalTime>
  <Words>537</Words>
  <Application>Microsoft Office PowerPoint</Application>
  <PresentationFormat>Widescreen</PresentationFormat>
  <Paragraphs>102</Paragraphs>
  <Slides>9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  <vt:variant>
        <vt:lpstr>Custom Shows</vt:lpstr>
      </vt:variant>
      <vt:variant>
        <vt:i4>1</vt:i4>
      </vt:variant>
    </vt:vector>
  </HeadingPairs>
  <TitlesOfParts>
    <vt:vector size="18" baseType="lpstr">
      <vt:lpstr>Aptos</vt:lpstr>
      <vt:lpstr>Aptos Display</vt:lpstr>
      <vt:lpstr>Arial</vt:lpstr>
      <vt:lpstr>AvantGarde Bk BT</vt:lpstr>
      <vt:lpstr>AvantGarde Md BT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Zielgruppenpräsentation 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Dmitrii Dobriborsci</dc:creator>
  <cp:keywords/>
  <dc:description/>
  <cp:lastModifiedBy>Anandhu Vijayan</cp:lastModifiedBy>
  <cp:revision>37</cp:revision>
  <cp:lastPrinted>2025-01-26T21:13:28Z</cp:lastPrinted>
  <dcterms:created xsi:type="dcterms:W3CDTF">2019-09-09T12:43:43Z</dcterms:created>
  <dcterms:modified xsi:type="dcterms:W3CDTF">2026-01-18T13:44:35Z</dcterms:modified>
  <cp:category/>
</cp:coreProperties>
</file>